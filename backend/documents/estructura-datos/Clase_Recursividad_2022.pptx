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23"/>
  </p:notesMasterIdLst>
  <p:sldIdLst>
    <p:sldId id="281" r:id="rId2"/>
    <p:sldId id="389" r:id="rId3"/>
    <p:sldId id="390" r:id="rId4"/>
    <p:sldId id="391" r:id="rId5"/>
    <p:sldId id="394" r:id="rId6"/>
    <p:sldId id="395" r:id="rId7"/>
    <p:sldId id="396" r:id="rId8"/>
    <p:sldId id="397" r:id="rId9"/>
    <p:sldId id="398" r:id="rId10"/>
    <p:sldId id="399" r:id="rId11"/>
    <p:sldId id="392" r:id="rId12"/>
    <p:sldId id="287" r:id="rId13"/>
    <p:sldId id="383" r:id="rId14"/>
    <p:sldId id="386" r:id="rId15"/>
    <p:sldId id="384" r:id="rId16"/>
    <p:sldId id="387" r:id="rId17"/>
    <p:sldId id="385" r:id="rId18"/>
    <p:sldId id="388" r:id="rId19"/>
    <p:sldId id="400" r:id="rId20"/>
    <p:sldId id="382" r:id="rId21"/>
    <p:sldId id="393" r:id="rId2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CC0066"/>
    <a:srgbClr val="FFFFFF"/>
    <a:srgbClr val="CCFFFF"/>
    <a:srgbClr val="008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>
      <p:cViewPr varScale="1">
        <p:scale>
          <a:sx n="59" d="100"/>
          <a:sy n="59" d="100"/>
        </p:scale>
        <p:origin x="14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140D8B-C57E-4317-8935-5A5CA6A20796}" type="doc">
      <dgm:prSet loTypeId="urn:microsoft.com/office/officeart/2005/8/layout/default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0A76C62A-D584-477C-8273-47ECC98739E2}">
      <dgm:prSet/>
      <dgm:spPr/>
      <dgm:t>
        <a:bodyPr/>
        <a:lstStyle/>
        <a:p>
          <a:r>
            <a:rPr lang="es-MX" b="1"/>
            <a:t>Definición </a:t>
          </a:r>
          <a:r>
            <a:rPr lang="es-MX"/>
            <a:t>: Técnica de programación muy potente que puede ser usada en lugar de la iteración. </a:t>
          </a:r>
          <a:endParaRPr lang="en-US"/>
        </a:p>
      </dgm:t>
    </dgm:pt>
    <dgm:pt modelId="{76025C0F-BBEC-432D-9330-3A0E070DF180}" type="parTrans" cxnId="{F07191AC-9645-4741-A6C5-09C8E29A7A84}">
      <dgm:prSet/>
      <dgm:spPr/>
      <dgm:t>
        <a:bodyPr/>
        <a:lstStyle/>
        <a:p>
          <a:endParaRPr lang="en-US"/>
        </a:p>
      </dgm:t>
    </dgm:pt>
    <dgm:pt modelId="{756DFE3A-FFE2-4B17-9E19-F011682852C7}" type="sibTrans" cxnId="{F07191AC-9645-4741-A6C5-09C8E29A7A84}">
      <dgm:prSet/>
      <dgm:spPr/>
      <dgm:t>
        <a:bodyPr/>
        <a:lstStyle/>
        <a:p>
          <a:endParaRPr lang="en-US"/>
        </a:p>
      </dgm:t>
    </dgm:pt>
    <dgm:pt modelId="{A1F3F22D-4A1C-4876-9A05-98C418F0E98C}">
      <dgm:prSet/>
      <dgm:spPr/>
      <dgm:t>
        <a:bodyPr/>
        <a:lstStyle/>
        <a:p>
          <a:r>
            <a:rPr lang="es-MX" b="1"/>
            <a:t>• Ámbito de Aplicación</a:t>
          </a:r>
          <a:r>
            <a:rPr lang="es-MX"/>
            <a:t>: </a:t>
          </a:r>
        </a:p>
        <a:p>
          <a:r>
            <a:rPr lang="es-MX"/>
            <a:t>Problemas cuya solución se puede hallar solucionando el mismo problema pero con un caso de menor tamaño. </a:t>
          </a:r>
          <a:endParaRPr lang="en-US"/>
        </a:p>
      </dgm:t>
    </dgm:pt>
    <dgm:pt modelId="{FFBDD002-38E8-48A9-B671-2A8B81458DDA}" type="parTrans" cxnId="{873C0E0A-6D61-4150-83ED-D2B83E7D54E7}">
      <dgm:prSet/>
      <dgm:spPr/>
      <dgm:t>
        <a:bodyPr/>
        <a:lstStyle/>
        <a:p>
          <a:endParaRPr lang="en-US"/>
        </a:p>
      </dgm:t>
    </dgm:pt>
    <dgm:pt modelId="{7B22D1CD-C08D-42EF-AAAE-CF58CF345DE8}" type="sibTrans" cxnId="{873C0E0A-6D61-4150-83ED-D2B83E7D54E7}">
      <dgm:prSet/>
      <dgm:spPr/>
      <dgm:t>
        <a:bodyPr/>
        <a:lstStyle/>
        <a:p>
          <a:endParaRPr lang="en-US"/>
        </a:p>
      </dgm:t>
    </dgm:pt>
    <dgm:pt modelId="{4F442ADB-02AF-450A-AD8C-11955C1ACAB2}">
      <dgm:prSet/>
      <dgm:spPr/>
      <dgm:t>
        <a:bodyPr/>
        <a:lstStyle/>
        <a:p>
          <a:r>
            <a:rPr lang="es-MX" b="1"/>
            <a:t>• Razones de uso</a:t>
          </a:r>
          <a:r>
            <a:rPr lang="es-MX"/>
            <a:t>: </a:t>
          </a:r>
        </a:p>
        <a:p>
          <a:r>
            <a:rPr lang="es-MX"/>
            <a:t>– Problemas “casi” irresolubles con las estructuras iterativas. </a:t>
          </a:r>
        </a:p>
        <a:p>
          <a:r>
            <a:rPr lang="es-MX"/>
            <a:t>– Soluciones elegantes. </a:t>
          </a:r>
        </a:p>
        <a:p>
          <a:r>
            <a:rPr lang="es-MX"/>
            <a:t>– Soluciones más simples. </a:t>
          </a:r>
          <a:endParaRPr lang="en-US"/>
        </a:p>
      </dgm:t>
    </dgm:pt>
    <dgm:pt modelId="{B80D49DC-371B-4AA0-A5AD-D79411434C45}" type="parTrans" cxnId="{76912C5E-D5A4-4118-A055-841A1D959AEE}">
      <dgm:prSet/>
      <dgm:spPr/>
      <dgm:t>
        <a:bodyPr/>
        <a:lstStyle/>
        <a:p>
          <a:endParaRPr lang="en-US"/>
        </a:p>
      </dgm:t>
    </dgm:pt>
    <dgm:pt modelId="{B16069DE-C66C-4C69-A408-630723E75357}" type="sibTrans" cxnId="{76912C5E-D5A4-4118-A055-841A1D959AEE}">
      <dgm:prSet/>
      <dgm:spPr/>
      <dgm:t>
        <a:bodyPr/>
        <a:lstStyle/>
        <a:p>
          <a:endParaRPr lang="en-US"/>
        </a:p>
      </dgm:t>
    </dgm:pt>
    <dgm:pt modelId="{8F9B2CEA-D986-4AB4-AF35-22747224F37C}" type="pres">
      <dgm:prSet presAssocID="{EA140D8B-C57E-4317-8935-5A5CA6A20796}" presName="diagram" presStyleCnt="0">
        <dgm:presLayoutVars>
          <dgm:dir/>
          <dgm:resizeHandles val="exact"/>
        </dgm:presLayoutVars>
      </dgm:prSet>
      <dgm:spPr/>
    </dgm:pt>
    <dgm:pt modelId="{933F679C-50AD-4484-AE13-74C87848CFBF}" type="pres">
      <dgm:prSet presAssocID="{0A76C62A-D584-477C-8273-47ECC98739E2}" presName="node" presStyleLbl="node1" presStyleIdx="0" presStyleCnt="3">
        <dgm:presLayoutVars>
          <dgm:bulletEnabled val="1"/>
        </dgm:presLayoutVars>
      </dgm:prSet>
      <dgm:spPr/>
    </dgm:pt>
    <dgm:pt modelId="{5430C7CC-A01D-4339-949C-63A6238059B8}" type="pres">
      <dgm:prSet presAssocID="{756DFE3A-FFE2-4B17-9E19-F011682852C7}" presName="sibTrans" presStyleCnt="0"/>
      <dgm:spPr/>
    </dgm:pt>
    <dgm:pt modelId="{3E44603E-8CA3-4713-A970-D8C085577C62}" type="pres">
      <dgm:prSet presAssocID="{A1F3F22D-4A1C-4876-9A05-98C418F0E98C}" presName="node" presStyleLbl="node1" presStyleIdx="1" presStyleCnt="3">
        <dgm:presLayoutVars>
          <dgm:bulletEnabled val="1"/>
        </dgm:presLayoutVars>
      </dgm:prSet>
      <dgm:spPr/>
    </dgm:pt>
    <dgm:pt modelId="{307CB8EE-1311-4FA6-8F5B-9F57608A25C2}" type="pres">
      <dgm:prSet presAssocID="{7B22D1CD-C08D-42EF-AAAE-CF58CF345DE8}" presName="sibTrans" presStyleCnt="0"/>
      <dgm:spPr/>
    </dgm:pt>
    <dgm:pt modelId="{A5B4A008-8D62-4DE2-844C-4E9A06230A0D}" type="pres">
      <dgm:prSet presAssocID="{4F442ADB-02AF-450A-AD8C-11955C1ACAB2}" presName="node" presStyleLbl="node1" presStyleIdx="2" presStyleCnt="3">
        <dgm:presLayoutVars>
          <dgm:bulletEnabled val="1"/>
        </dgm:presLayoutVars>
      </dgm:prSet>
      <dgm:spPr/>
    </dgm:pt>
  </dgm:ptLst>
  <dgm:cxnLst>
    <dgm:cxn modelId="{873C0E0A-6D61-4150-83ED-D2B83E7D54E7}" srcId="{EA140D8B-C57E-4317-8935-5A5CA6A20796}" destId="{A1F3F22D-4A1C-4876-9A05-98C418F0E98C}" srcOrd="1" destOrd="0" parTransId="{FFBDD002-38E8-48A9-B671-2A8B81458DDA}" sibTransId="{7B22D1CD-C08D-42EF-AAAE-CF58CF345DE8}"/>
    <dgm:cxn modelId="{20872428-F30F-4F35-B3E2-5F569349944C}" type="presOf" srcId="{EA140D8B-C57E-4317-8935-5A5CA6A20796}" destId="{8F9B2CEA-D986-4AB4-AF35-22747224F37C}" srcOrd="0" destOrd="0" presId="urn:microsoft.com/office/officeart/2005/8/layout/default"/>
    <dgm:cxn modelId="{AF7B5E29-11A3-49C2-AEB2-9FC03AAB2BAA}" type="presOf" srcId="{A1F3F22D-4A1C-4876-9A05-98C418F0E98C}" destId="{3E44603E-8CA3-4713-A970-D8C085577C62}" srcOrd="0" destOrd="0" presId="urn:microsoft.com/office/officeart/2005/8/layout/default"/>
    <dgm:cxn modelId="{BC841B34-EE82-4817-9E91-4D320E3B5416}" type="presOf" srcId="{0A76C62A-D584-477C-8273-47ECC98739E2}" destId="{933F679C-50AD-4484-AE13-74C87848CFBF}" srcOrd="0" destOrd="0" presId="urn:microsoft.com/office/officeart/2005/8/layout/default"/>
    <dgm:cxn modelId="{76912C5E-D5A4-4118-A055-841A1D959AEE}" srcId="{EA140D8B-C57E-4317-8935-5A5CA6A20796}" destId="{4F442ADB-02AF-450A-AD8C-11955C1ACAB2}" srcOrd="2" destOrd="0" parTransId="{B80D49DC-371B-4AA0-A5AD-D79411434C45}" sibTransId="{B16069DE-C66C-4C69-A408-630723E75357}"/>
    <dgm:cxn modelId="{F07191AC-9645-4741-A6C5-09C8E29A7A84}" srcId="{EA140D8B-C57E-4317-8935-5A5CA6A20796}" destId="{0A76C62A-D584-477C-8273-47ECC98739E2}" srcOrd="0" destOrd="0" parTransId="{76025C0F-BBEC-432D-9330-3A0E070DF180}" sibTransId="{756DFE3A-FFE2-4B17-9E19-F011682852C7}"/>
    <dgm:cxn modelId="{4C4D31E8-FC2D-47F0-9CA5-8283AFA72FC4}" type="presOf" srcId="{4F442ADB-02AF-450A-AD8C-11955C1ACAB2}" destId="{A5B4A008-8D62-4DE2-844C-4E9A06230A0D}" srcOrd="0" destOrd="0" presId="urn:microsoft.com/office/officeart/2005/8/layout/default"/>
    <dgm:cxn modelId="{3496FBFA-9584-43C5-8BFA-DD6E45EFB5D7}" type="presParOf" srcId="{8F9B2CEA-D986-4AB4-AF35-22747224F37C}" destId="{933F679C-50AD-4484-AE13-74C87848CFBF}" srcOrd="0" destOrd="0" presId="urn:microsoft.com/office/officeart/2005/8/layout/default"/>
    <dgm:cxn modelId="{06C9B637-268D-4E20-839B-A27250F6633D}" type="presParOf" srcId="{8F9B2CEA-D986-4AB4-AF35-22747224F37C}" destId="{5430C7CC-A01D-4339-949C-63A6238059B8}" srcOrd="1" destOrd="0" presId="urn:microsoft.com/office/officeart/2005/8/layout/default"/>
    <dgm:cxn modelId="{645AB0EA-89DA-4259-B13F-26C949A7745C}" type="presParOf" srcId="{8F9B2CEA-D986-4AB4-AF35-22747224F37C}" destId="{3E44603E-8CA3-4713-A970-D8C085577C62}" srcOrd="2" destOrd="0" presId="urn:microsoft.com/office/officeart/2005/8/layout/default"/>
    <dgm:cxn modelId="{5CEB2721-3115-4B73-B81D-BB088DB48C53}" type="presParOf" srcId="{8F9B2CEA-D986-4AB4-AF35-22747224F37C}" destId="{307CB8EE-1311-4FA6-8F5B-9F57608A25C2}" srcOrd="3" destOrd="0" presId="urn:microsoft.com/office/officeart/2005/8/layout/default"/>
    <dgm:cxn modelId="{6109032B-5DDF-46DB-A698-CB26691C15F5}" type="presParOf" srcId="{8F9B2CEA-D986-4AB4-AF35-22747224F37C}" destId="{A5B4A008-8D62-4DE2-844C-4E9A06230A0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F679C-50AD-4484-AE13-74C87848CFBF}">
      <dsp:nvSpPr>
        <dsp:cNvPr id="0" name=""/>
        <dsp:cNvSpPr/>
      </dsp:nvSpPr>
      <dsp:spPr>
        <a:xfrm>
          <a:off x="150694" y="1564"/>
          <a:ext cx="2699093" cy="161945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Definición </a:t>
          </a:r>
          <a:r>
            <a:rPr lang="es-MX" sz="1600" kern="1200"/>
            <a:t>: Técnica de programación muy potente que puede ser usada en lugar de la iteración. </a:t>
          </a:r>
          <a:endParaRPr lang="en-US" sz="1600" kern="1200"/>
        </a:p>
      </dsp:txBody>
      <dsp:txXfrm>
        <a:off x="150694" y="1564"/>
        <a:ext cx="2699093" cy="1619455"/>
      </dsp:txXfrm>
    </dsp:sp>
    <dsp:sp modelId="{3E44603E-8CA3-4713-A970-D8C085577C62}">
      <dsp:nvSpPr>
        <dsp:cNvPr id="0" name=""/>
        <dsp:cNvSpPr/>
      </dsp:nvSpPr>
      <dsp:spPr>
        <a:xfrm>
          <a:off x="3119697" y="1564"/>
          <a:ext cx="2699093" cy="161945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• Ámbito de Aplicación</a:t>
          </a:r>
          <a:r>
            <a:rPr lang="es-MX" sz="1600" kern="1200"/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Problemas cuya solución se puede hallar solucionando el mismo problema pero con un caso de menor tamaño. </a:t>
          </a:r>
          <a:endParaRPr lang="en-US" sz="1600" kern="1200"/>
        </a:p>
      </dsp:txBody>
      <dsp:txXfrm>
        <a:off x="3119697" y="1564"/>
        <a:ext cx="2699093" cy="1619455"/>
      </dsp:txXfrm>
    </dsp:sp>
    <dsp:sp modelId="{A5B4A008-8D62-4DE2-844C-4E9A06230A0D}">
      <dsp:nvSpPr>
        <dsp:cNvPr id="0" name=""/>
        <dsp:cNvSpPr/>
      </dsp:nvSpPr>
      <dsp:spPr>
        <a:xfrm>
          <a:off x="1635195" y="1890929"/>
          <a:ext cx="2699093" cy="161945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• Razones de uso</a:t>
          </a:r>
          <a:r>
            <a:rPr lang="es-MX" sz="1600" kern="1200"/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– Problemas “casi” irresolubles con las estructuras iterativas.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– Soluciones elegantes.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– Soluciones más simples. </a:t>
          </a:r>
          <a:endParaRPr lang="en-US" sz="1600" kern="1200"/>
        </a:p>
      </dsp:txBody>
      <dsp:txXfrm>
        <a:off x="1635195" y="1890929"/>
        <a:ext cx="2699093" cy="16194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19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A3AF5BF-4942-44C4-BCFA-79298483A9B3}" type="slidenum">
              <a:rPr lang="es-ES" altLang="es-CL"/>
              <a:pPr>
                <a:defRPr/>
              </a:pPr>
              <a:t>‹Nº›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35237226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9"/>
          <p:cNvSpPr/>
          <p:nvPr/>
        </p:nvSpPr>
        <p:spPr>
          <a:xfrm>
            <a:off x="4763" y="0"/>
            <a:ext cx="9139237" cy="457200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7"/>
          <p:cNvCxnSpPr/>
          <p:nvPr/>
        </p:nvCxnSpPr>
        <p:spPr>
          <a:xfrm flipV="1">
            <a:off x="6289675" y="526415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/>
          <a:lstStyle>
            <a:lvl1pPr algn="r">
              <a:defRPr sz="44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37F34-180E-4D8B-AE97-96954E8630F7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187122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402FA-F4CE-4B2F-95BA-C6772F893A65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143982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10"/>
          <p:cNvSpPr/>
          <p:nvPr/>
        </p:nvSpPr>
        <p:spPr>
          <a:xfrm>
            <a:off x="4763" y="0"/>
            <a:ext cx="9139237" cy="457200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7"/>
          <p:cNvCxnSpPr/>
          <p:nvPr/>
        </p:nvCxnSpPr>
        <p:spPr>
          <a:xfrm flipV="1">
            <a:off x="6289675" y="526415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/>
          <a:lstStyle>
            <a:lvl1pPr algn="r">
              <a:defRPr sz="44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0CBE7D-92F8-47B3-9062-682E2603C7E1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312163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4EFC7-3D20-4541-B85C-2315900630FA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409064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47743-B730-49E7-834F-31283B965D4B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274221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6908F-51D4-43D8-855C-92C7C20CE6F2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79322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2E46A-7EEB-4FBA-B9D6-6FEEE2525EC8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1799656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B4BB7-20F8-4605-9373-9EB93D31A3A8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3743226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/>
          <p:cNvCxnSpPr/>
          <p:nvPr/>
        </p:nvCxnSpPr>
        <p:spPr>
          <a:xfrm flipV="1">
            <a:off x="6289675" y="5264150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/>
          <a:lstStyle>
            <a:lvl1pPr algn="r">
              <a:defRPr sz="44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AECE1-EE63-48DE-B89C-5D96B3807FCA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214420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79333-E541-45FF-AD8E-B9FCEE5E3B1C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422891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 rot="5400000" flipV="1">
            <a:off x="7543800" y="173038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029CA-B928-446A-8CC8-7C4D51640B96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</p:spTree>
    <p:extLst>
      <p:ext uri="{BB962C8B-B14F-4D97-AF65-F5344CB8AC3E}">
        <p14:creationId xmlns:p14="http://schemas.microsoft.com/office/powerpoint/2010/main" val="241176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350" y="585788"/>
            <a:ext cx="7289800" cy="1498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68350" y="2286000"/>
            <a:ext cx="7289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L"/>
              <a:t>Editar el estilo de texto del patrón</a:t>
            </a:r>
          </a:p>
          <a:p>
            <a:pPr lvl="1"/>
            <a:r>
              <a:rPr lang="es-ES" altLang="es-CL"/>
              <a:t>Segundo nivel</a:t>
            </a:r>
          </a:p>
          <a:p>
            <a:pPr lvl="2"/>
            <a:r>
              <a:rPr lang="es-ES" altLang="es-CL"/>
              <a:t>Tercer nivel</a:t>
            </a:r>
          </a:p>
          <a:p>
            <a:pPr lvl="3"/>
            <a:r>
              <a:rPr lang="es-ES" altLang="es-CL"/>
              <a:t>Cuarto nivel</a:t>
            </a:r>
          </a:p>
          <a:p>
            <a:pPr lvl="4"/>
            <a:r>
              <a:rPr lang="es-ES" altLang="es-CL"/>
              <a:t>Quinto nivel</a:t>
            </a:r>
            <a:endParaRPr lang="en-US" altLang="es-C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350" y="6470650"/>
            <a:ext cx="1616075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650"/>
            <a:ext cx="442595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650"/>
            <a:ext cx="73025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51A2C18D-C245-4348-82D6-50E8F5663871}" type="slidenum">
              <a:rPr lang="es-MX" altLang="es-CL"/>
              <a:pPr>
                <a:defRPr/>
              </a:pPr>
              <a:t>‹Nº›</a:t>
            </a:fld>
            <a:endParaRPr lang="es-MX" altLang="es-CL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7088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08" r:id="rId2"/>
    <p:sldLayoutId id="2147484015" r:id="rId3"/>
    <p:sldLayoutId id="2147484009" r:id="rId4"/>
    <p:sldLayoutId id="2147484010" r:id="rId5"/>
    <p:sldLayoutId id="2147484011" r:id="rId6"/>
    <p:sldLayoutId id="2147484016" r:id="rId7"/>
    <p:sldLayoutId id="2147484012" r:id="rId8"/>
    <p:sldLayoutId id="2147484017" r:id="rId9"/>
    <p:sldLayoutId id="2147484013" r:id="rId10"/>
    <p:sldLayoutId id="2147484018" r:id="rId11"/>
  </p:sldLayoutIdLst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 kern="1200" cap="all" spc="10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6020104020203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6020104020203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6020104020203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6020104020203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13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7675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3725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6288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4959350"/>
            <a:ext cx="5829300" cy="146367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b="1" dirty="0"/>
              <a:t>ESTRUCTURA DE DATOS</a:t>
            </a:r>
            <a:endParaRPr lang="es-ES" altLang="es-CL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457950" y="4959350"/>
            <a:ext cx="2400300" cy="1463675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r>
              <a:rPr lang="es-ES" altLang="es-CL" dirty="0"/>
              <a:t>Clase 3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r>
              <a:rPr lang="es-ES" altLang="es-CL" dirty="0"/>
              <a:t>Semestre 2022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endParaRPr lang="es-ES" alt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12A1F828-B549-4D9A-B091-4B2DC4B2B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3308" y="484632"/>
            <a:ext cx="5846042" cy="35119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59EE9FC-03BF-4860-9A99-6B440AB43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3308" y="4150596"/>
            <a:ext cx="5846042" cy="22196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51583D-3A3A-4049-8829-325FE8DD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677" y="4391025"/>
            <a:ext cx="5014130" cy="1738808"/>
          </a:xfrm>
        </p:spPr>
        <p:txBody>
          <a:bodyPr vert="horz" lIns="91440" tIns="45720" rIns="91440" bIns="45720" rtlCol="0">
            <a:normAutofit/>
          </a:bodyPr>
          <a:lstStyle/>
          <a:p>
            <a:pPr eaLnBrk="1" hangingPunct="1"/>
            <a:r>
              <a:rPr lang="en-US" b="1" kern="1200" cap="all" spc="1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recursividad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099E16-EEDE-4A5C-AE08-09B2CE9A6D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0" r="32989" b="1"/>
          <a:stretch/>
        </p:blipFill>
        <p:spPr bwMode="auto">
          <a:xfrm rot="21600000">
            <a:off x="363474" y="484632"/>
            <a:ext cx="2436390" cy="35119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uál es la historia de la matrioska, las muñecas rusas">
            <a:extLst>
              <a:ext uri="{FF2B5EF4-FFF2-40B4-BE49-F238E27FC236}">
                <a16:creationId xmlns:a16="http://schemas.microsoft.com/office/drawing/2014/main" id="{6548FD2E-3702-4D06-8077-8BC4D714F7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" r="6202" b="8"/>
          <a:stretch/>
        </p:blipFill>
        <p:spPr bwMode="auto">
          <a:xfrm>
            <a:off x="363474" y="4150596"/>
            <a:ext cx="2436391" cy="223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140078B-702A-463C-B633-546117AE1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317081" y="4803229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BC3B1C84-BA74-44FE-A93E-EB1D0663F6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646845"/>
              </p:ext>
            </p:extLst>
          </p:nvPr>
        </p:nvGraphicFramePr>
        <p:xfrm>
          <a:off x="2843808" y="484630"/>
          <a:ext cx="5969485" cy="3511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07180F2F-98B3-4D41-BD2D-313B0585FDFC}"/>
              </a:ext>
            </a:extLst>
          </p:cNvPr>
          <p:cNvSpPr txBox="1"/>
          <p:nvPr/>
        </p:nvSpPr>
        <p:spPr>
          <a:xfrm>
            <a:off x="5148064" y="6479758"/>
            <a:ext cx="361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100" dirty="0">
                <a:solidFill>
                  <a:schemeClr val="accent4"/>
                </a:solidFill>
                <a:latin typeface="+mn-lt"/>
              </a:rPr>
              <a:t>“Extracto del Material del Profesor </a:t>
            </a:r>
            <a:r>
              <a:rPr lang="es-CL" sz="1100" b="0" i="0" dirty="0">
                <a:solidFill>
                  <a:schemeClr val="accent4"/>
                </a:solidFill>
                <a:effectLst/>
                <a:latin typeface="+mn-lt"/>
              </a:rPr>
              <a:t>David Castro Salinas”</a:t>
            </a:r>
            <a:endParaRPr lang="es-CL" sz="11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733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9" y="4572000"/>
            <a:ext cx="5293730" cy="1964266"/>
          </a:xfrm>
          <a:prstGeom prst="rect">
            <a:avLst/>
          </a:prstGeom>
          <a:solidFill>
            <a:srgbClr val="694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3F61ECD-4778-4977-971E-42902C70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4767072"/>
            <a:ext cx="4945641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eaLnBrk="1" hangingPunct="1"/>
            <a:r>
              <a:rPr lang="en-US" sz="5000" b="1">
                <a:solidFill>
                  <a:srgbClr val="FFFFFF"/>
                </a:solidFill>
              </a:rPr>
              <a:t>recursividad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3B59BDA-A4AC-467F-929D-D605A37F04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7" r="35657" b="3"/>
          <a:stretch/>
        </p:blipFill>
        <p:spPr bwMode="auto">
          <a:xfrm rot="21600000">
            <a:off x="245660" y="321733"/>
            <a:ext cx="2586538" cy="41073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uál es la historia de la matrioska, las muñecas rusas">
            <a:extLst>
              <a:ext uri="{FF2B5EF4-FFF2-40B4-BE49-F238E27FC236}">
                <a16:creationId xmlns:a16="http://schemas.microsoft.com/office/drawing/2014/main" id="{39A831AF-2B27-4867-B789-21D1A879E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54" r="25762" b="1"/>
          <a:stretch/>
        </p:blipFill>
        <p:spPr bwMode="auto">
          <a:xfrm>
            <a:off x="2943800" y="321732"/>
            <a:ext cx="2586538" cy="410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1" y="321732"/>
            <a:ext cx="3251710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6A6244-2C24-4689-ABB8-A02A20BC031D}"/>
              </a:ext>
            </a:extLst>
          </p:cNvPr>
          <p:cNvSpPr txBox="1"/>
          <p:nvPr/>
        </p:nvSpPr>
        <p:spPr>
          <a:xfrm>
            <a:off x="5868144" y="476672"/>
            <a:ext cx="2882664" cy="5688631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s-CL" sz="2000">
                <a:solidFill>
                  <a:srgbClr val="FFFFFF"/>
                </a:solidFill>
                <a:latin typeface="+mn-lt"/>
              </a:rPr>
              <a:t>¿En qué consiste la recursividad? </a:t>
            </a: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s-CL" sz="2000">
              <a:solidFill>
                <a:srgbClr val="FFFFFF"/>
              </a:solidFill>
              <a:latin typeface="+mn-lt"/>
            </a:endParaRP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s-CL" sz="2000">
                <a:solidFill>
                  <a:srgbClr val="FFFFFF"/>
                </a:solidFill>
                <a:latin typeface="+mn-lt"/>
              </a:rPr>
              <a:t>– En el cuerpo de sentencias de la función se invoca a la propia función para resolver “una versión más pequeña” del problema original. </a:t>
            </a: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s-CL" sz="2000">
              <a:solidFill>
                <a:srgbClr val="FFFFFF"/>
              </a:solidFill>
              <a:latin typeface="+mn-lt"/>
            </a:endParaRP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s-CL" sz="2000">
                <a:solidFill>
                  <a:srgbClr val="FFFFFF"/>
                </a:solidFill>
                <a:latin typeface="+mn-lt"/>
              </a:rPr>
              <a:t>– Habrá un caso (o varios) tan simple que pueda resolverse directamente sin necesidad de hacer otra llamada recursiva.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635A6E-9C22-4949-AE3E-8BAFCE7066C8}"/>
              </a:ext>
            </a:extLst>
          </p:cNvPr>
          <p:cNvSpPr txBox="1"/>
          <p:nvPr/>
        </p:nvSpPr>
        <p:spPr>
          <a:xfrm>
            <a:off x="5353844" y="6551766"/>
            <a:ext cx="361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100" dirty="0">
                <a:solidFill>
                  <a:schemeClr val="accent4"/>
                </a:solidFill>
                <a:latin typeface="+mn-lt"/>
              </a:rPr>
              <a:t>“Extracto del Material del Profesor </a:t>
            </a:r>
            <a:r>
              <a:rPr lang="es-CL" sz="1100" b="0" i="0" dirty="0">
                <a:solidFill>
                  <a:schemeClr val="accent4"/>
                </a:solidFill>
                <a:effectLst/>
                <a:latin typeface="+mn-lt"/>
              </a:rPr>
              <a:t>David Castro Salinas”</a:t>
            </a:r>
            <a:endParaRPr lang="es-CL" sz="11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849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9F25DB-27E4-4B94-B80D-681C53186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3308" y="484632"/>
            <a:ext cx="5846042" cy="35119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305059-0A7C-4D26-9791-C7476E390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3308" y="4150595"/>
            <a:ext cx="5846042" cy="2219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FB03AA-D80B-49B9-B639-301078E62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677" y="4391025"/>
            <a:ext cx="5014130" cy="17388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/>
            <a:r>
              <a:rPr lang="es-CL" sz="5000" b="1">
                <a:solidFill>
                  <a:schemeClr val="tx1">
                    <a:lumMod val="95000"/>
                    <a:lumOff val="5000"/>
                  </a:schemeClr>
                </a:solidFill>
              </a:rPr>
              <a:t>Ejemplo factorial</a:t>
            </a:r>
          </a:p>
        </p:txBody>
      </p:sp>
      <p:pic>
        <p:nvPicPr>
          <p:cNvPr id="7" name="Picture 2" descr="Cuál es la historia de la matrioska, las muñecas rusas">
            <a:extLst>
              <a:ext uri="{FF2B5EF4-FFF2-40B4-BE49-F238E27FC236}">
                <a16:creationId xmlns:a16="http://schemas.microsoft.com/office/drawing/2014/main" id="{E8B12F4A-4C10-4E1E-9454-25A4BC5900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54" r="25762" b="1"/>
          <a:stretch/>
        </p:blipFill>
        <p:spPr bwMode="auto">
          <a:xfrm>
            <a:off x="476650" y="484632"/>
            <a:ext cx="2210039" cy="3508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97B1772-D14A-4C92-B064-6DE392A48A78}"/>
              </a:ext>
            </a:extLst>
          </p:cNvPr>
          <p:cNvSpPr txBox="1"/>
          <p:nvPr/>
        </p:nvSpPr>
        <p:spPr>
          <a:xfrm>
            <a:off x="3164851" y="476672"/>
            <a:ext cx="5362956" cy="287121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800" dirty="0">
                <a:solidFill>
                  <a:srgbClr val="FFFFFF"/>
                </a:solidFill>
                <a:latin typeface="+mn-lt"/>
              </a:rPr>
              <a:t>5!	=5*4!</a:t>
            </a: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800" dirty="0">
                <a:solidFill>
                  <a:srgbClr val="FFFFFF"/>
                </a:solidFill>
                <a:latin typeface="+mn-lt"/>
              </a:rPr>
              <a:t>	= 5*4*3!</a:t>
            </a: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800" dirty="0">
                <a:solidFill>
                  <a:srgbClr val="FFFFFF"/>
                </a:solidFill>
                <a:latin typeface="+mn-lt"/>
              </a:rPr>
              <a:t>	= 5*4*3*2!</a:t>
            </a: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800" dirty="0">
                <a:solidFill>
                  <a:srgbClr val="FFFFFF"/>
                </a:solidFill>
                <a:latin typeface="+mn-lt"/>
              </a:rPr>
              <a:t>	= 5*4*3*2*1</a:t>
            </a:r>
            <a:endParaRPr lang="en-US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AF3C20-2788-4B74-9CD3-1BEBBC154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991" y="2727133"/>
            <a:ext cx="4226675" cy="172237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452CC1-C80C-461C-B7FA-5743811F0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317081" y="4803229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76E2882B-554B-4EF5-9D14-7EBADB58C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0" r="32989" b="1"/>
          <a:stretch/>
        </p:blipFill>
        <p:spPr bwMode="auto">
          <a:xfrm rot="21600000">
            <a:off x="511933" y="3890850"/>
            <a:ext cx="2169831" cy="24794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95A60BD-E2EA-4818-A778-1D9E7E253F95}"/>
              </a:ext>
            </a:extLst>
          </p:cNvPr>
          <p:cNvSpPr txBox="1"/>
          <p:nvPr/>
        </p:nvSpPr>
        <p:spPr>
          <a:xfrm>
            <a:off x="5148064" y="6479758"/>
            <a:ext cx="361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100" dirty="0">
                <a:solidFill>
                  <a:schemeClr val="accent4"/>
                </a:solidFill>
                <a:latin typeface="+mn-lt"/>
              </a:rPr>
              <a:t>“Extracto del Material del Profesor </a:t>
            </a:r>
            <a:r>
              <a:rPr lang="es-CL" sz="1100" b="0" i="0" dirty="0">
                <a:solidFill>
                  <a:schemeClr val="accent4"/>
                </a:solidFill>
                <a:effectLst/>
                <a:latin typeface="+mn-lt"/>
              </a:rPr>
              <a:t>David Castro Salinas”</a:t>
            </a:r>
            <a:endParaRPr lang="es-CL" sz="11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685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9" y="4572000"/>
            <a:ext cx="5293730" cy="1964266"/>
          </a:xfrm>
          <a:prstGeom prst="rect">
            <a:avLst/>
          </a:prstGeom>
          <a:solidFill>
            <a:srgbClr val="694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CF031B-C496-4FD8-953B-E885291F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4767072"/>
            <a:ext cx="4945641" cy="1625210"/>
          </a:xfrm>
        </p:spPr>
        <p:txBody>
          <a:bodyPr>
            <a:normAutofit/>
          </a:bodyPr>
          <a:lstStyle/>
          <a:p>
            <a:pPr algn="r"/>
            <a:r>
              <a:rPr lang="es-MX" b="1" dirty="0">
                <a:solidFill>
                  <a:srgbClr val="FFFFFF"/>
                </a:solidFill>
              </a:rPr>
              <a:t>LA RECURSIVIDAD DEBE CUMPLIR con:</a:t>
            </a:r>
            <a:endParaRPr lang="es-CL" b="1" dirty="0">
              <a:solidFill>
                <a:srgbClr val="FFFFFF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E76F1DE-97D1-4501-B489-22DA75922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7" r="35658" b="3"/>
          <a:stretch/>
        </p:blipFill>
        <p:spPr bwMode="auto">
          <a:xfrm rot="21600000">
            <a:off x="245660" y="321733"/>
            <a:ext cx="2586538" cy="41073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uál es la historia de la matrioska, las muñecas rusas">
            <a:extLst>
              <a:ext uri="{FF2B5EF4-FFF2-40B4-BE49-F238E27FC236}">
                <a16:creationId xmlns:a16="http://schemas.microsoft.com/office/drawing/2014/main" id="{E75E422E-ED84-4E9E-801B-21C2B1BC1E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54" r="25763" b="1"/>
          <a:stretch/>
        </p:blipFill>
        <p:spPr bwMode="auto">
          <a:xfrm>
            <a:off x="2943800" y="321732"/>
            <a:ext cx="2586538" cy="410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1" y="321732"/>
            <a:ext cx="3251710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53BE07-D416-4F2A-8F2D-68DAEA9D4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36" y="476672"/>
            <a:ext cx="2954671" cy="5915610"/>
          </a:xfrm>
        </p:spPr>
        <p:txBody>
          <a:bodyPr anchor="ctr">
            <a:normAutofit/>
          </a:bodyPr>
          <a:lstStyle/>
          <a:p>
            <a:r>
              <a:rPr lang="es-MX" dirty="0">
                <a:solidFill>
                  <a:srgbClr val="FFFFFF"/>
                </a:solidFill>
              </a:rPr>
              <a:t>1.- CASO BASE: Es una salida NO RECURSIVA en que el problema funciona correctamente para ella. **Proceso que no efectúa cálculos recursivos </a:t>
            </a:r>
          </a:p>
          <a:p>
            <a:r>
              <a:rPr lang="es-MX" dirty="0">
                <a:solidFill>
                  <a:srgbClr val="FFFFFF"/>
                </a:solidFill>
              </a:rPr>
              <a:t>2.- CASO GENERAL: Donde se hace necesaria la llamada a sí misma. **Proceso que continua realizado llamadas a si mismo, pero con un nuevo valor que se acerca a caso base. </a:t>
            </a:r>
          </a:p>
          <a:p>
            <a:r>
              <a:rPr lang="es-MX" dirty="0">
                <a:solidFill>
                  <a:srgbClr val="FFFFFF"/>
                </a:solidFill>
              </a:rPr>
              <a:t>3.- CONDICIÓN DE TÉRMINO: Salida del proceso recursivo </a:t>
            </a:r>
            <a:endParaRPr lang="es-CL" dirty="0">
              <a:solidFill>
                <a:srgbClr val="FFFFFF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EA0EA9D-EBA7-4016-B78D-ABC31C992B95}"/>
              </a:ext>
            </a:extLst>
          </p:cNvPr>
          <p:cNvSpPr txBox="1"/>
          <p:nvPr/>
        </p:nvSpPr>
        <p:spPr>
          <a:xfrm>
            <a:off x="5353844" y="6551766"/>
            <a:ext cx="361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100" dirty="0">
                <a:solidFill>
                  <a:schemeClr val="accent4"/>
                </a:solidFill>
                <a:latin typeface="+mn-lt"/>
              </a:rPr>
              <a:t>“Extracto del Material del Profesor </a:t>
            </a:r>
            <a:r>
              <a:rPr lang="es-CL" sz="1100" b="0" i="0" dirty="0">
                <a:solidFill>
                  <a:schemeClr val="accent4"/>
                </a:solidFill>
                <a:effectLst/>
                <a:latin typeface="+mn-lt"/>
              </a:rPr>
              <a:t>David Castro Salinas”</a:t>
            </a:r>
            <a:endParaRPr lang="es-CL" sz="11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1522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D1F68-3BD0-4053-BF18-4B6CC59F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es-MX" b="1" dirty="0"/>
              <a:t>Estructura del Proceso Recursivo</a:t>
            </a:r>
            <a:endParaRPr lang="es-CL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21CE1C-8D34-4808-89F9-AF3FF15B4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r>
              <a:rPr lang="es-MX" sz="2800" b="1" dirty="0">
                <a:solidFill>
                  <a:schemeClr val="accent3">
                    <a:lumMod val="75000"/>
                  </a:schemeClr>
                </a:solidFill>
              </a:rPr>
              <a:t>¿Por dónde empiezo? </a:t>
            </a:r>
          </a:p>
          <a:p>
            <a:r>
              <a:rPr lang="es-MX" sz="1900" dirty="0"/>
              <a:t>1.- Obtener la definición exacta del problema. ¿Qué deseo resolver? </a:t>
            </a:r>
          </a:p>
          <a:p>
            <a:r>
              <a:rPr lang="es-MX" sz="1900" dirty="0"/>
              <a:t>2.- Determinar el tamaño completo y parámetros iniciales ¿Qué variables de entrada usaré? </a:t>
            </a:r>
          </a:p>
          <a:p>
            <a:r>
              <a:rPr lang="es-MX" sz="1900" dirty="0"/>
              <a:t>3.- Resolver los casos triviales (CASOS-BASE o no recursivos) ¿Esto no requiere recursividad? ¿Condición de Salida? </a:t>
            </a:r>
          </a:p>
          <a:p>
            <a:r>
              <a:rPr lang="es-MX" sz="1900" dirty="0"/>
              <a:t>4.- Resolver el CASO-GENERAL en términos de un caso más pequeño. Llamada recursiva</a:t>
            </a:r>
            <a:endParaRPr lang="es-CL" sz="1900" dirty="0"/>
          </a:p>
        </p:txBody>
      </p:sp>
      <p:pic>
        <p:nvPicPr>
          <p:cNvPr id="4" name="Picture 2" descr="Cuál es la historia de la matrioska, las muñecas rusas">
            <a:extLst>
              <a:ext uri="{FF2B5EF4-FFF2-40B4-BE49-F238E27FC236}">
                <a16:creationId xmlns:a16="http://schemas.microsoft.com/office/drawing/2014/main" id="{6689E58A-8119-4CDC-B770-61812AC6DF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5" r="30952"/>
          <a:stretch/>
        </p:blipFill>
        <p:spPr bwMode="auto">
          <a:xfrm>
            <a:off x="5664199" y="10"/>
            <a:ext cx="34798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F91A983-DE1C-4052-87C1-3E6FFC57784D}"/>
              </a:ext>
            </a:extLst>
          </p:cNvPr>
          <p:cNvSpPr txBox="1"/>
          <p:nvPr/>
        </p:nvSpPr>
        <p:spPr>
          <a:xfrm>
            <a:off x="5148064" y="6479758"/>
            <a:ext cx="361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100" dirty="0">
                <a:solidFill>
                  <a:schemeClr val="accent4"/>
                </a:solidFill>
                <a:latin typeface="+mn-lt"/>
              </a:rPr>
              <a:t>“Extracto del Material del Profesor </a:t>
            </a:r>
            <a:r>
              <a:rPr lang="es-CL" sz="1100" b="0" i="0" dirty="0">
                <a:solidFill>
                  <a:schemeClr val="accent4"/>
                </a:solidFill>
                <a:effectLst/>
                <a:latin typeface="+mn-lt"/>
              </a:rPr>
              <a:t>David Castro Salinas”</a:t>
            </a:r>
            <a:endParaRPr lang="es-CL" sz="11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9428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4A334-497E-4320-8E3D-D7149626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2"/>
                </a:solidFill>
              </a:rPr>
              <a:t>EJEMPLO POTENCIA </a:t>
            </a:r>
            <a:r>
              <a:rPr lang="es-CL" b="1" dirty="0" err="1">
                <a:solidFill>
                  <a:schemeClr val="accent2"/>
                </a:solidFill>
              </a:rPr>
              <a:t>x</a:t>
            </a:r>
            <a:r>
              <a:rPr lang="es-CL" b="1" baseline="30000" dirty="0" err="1">
                <a:solidFill>
                  <a:schemeClr val="accent2"/>
                </a:solidFill>
              </a:rPr>
              <a:t>n</a:t>
            </a:r>
            <a:r>
              <a:rPr lang="es-MX" b="1" dirty="0">
                <a:solidFill>
                  <a:schemeClr val="accent2"/>
                </a:solidFill>
              </a:rPr>
              <a:t>:</a:t>
            </a:r>
            <a:endParaRPr lang="es-CL" b="1" dirty="0">
              <a:solidFill>
                <a:schemeClr val="accent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4BBFEE-8965-493C-8E53-DB32A932E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988841"/>
            <a:ext cx="8112224" cy="1224136"/>
          </a:xfrm>
        </p:spPr>
        <p:txBody>
          <a:bodyPr/>
          <a:lstStyle/>
          <a:p>
            <a:pPr algn="just"/>
            <a:r>
              <a:rPr lang="es-MX" dirty="0"/>
              <a:t>Cuando el exponente es un número natural </a:t>
            </a:r>
            <a:r>
              <a:rPr lang="es-MX" b="1" dirty="0"/>
              <a:t>N</a:t>
            </a:r>
            <a:r>
              <a:rPr lang="es-MX" dirty="0"/>
              <a:t>, éste indica las veces que aparece </a:t>
            </a:r>
            <a:r>
              <a:rPr lang="es-MX" b="1" dirty="0"/>
              <a:t>X</a:t>
            </a:r>
            <a:r>
              <a:rPr lang="es-MX" dirty="0"/>
              <a:t> multiplicando por sí mismo, siendo </a:t>
            </a:r>
            <a:r>
              <a:rPr lang="es-MX" b="1" dirty="0"/>
              <a:t>X</a:t>
            </a:r>
            <a:r>
              <a:rPr lang="es-MX" dirty="0"/>
              <a:t> un número cualquiera. Donde </a:t>
            </a:r>
            <a:r>
              <a:rPr lang="es-MX" b="1" dirty="0"/>
              <a:t>X</a:t>
            </a:r>
            <a:r>
              <a:rPr lang="es-MX" dirty="0"/>
              <a:t> es la base y </a:t>
            </a:r>
            <a:r>
              <a:rPr lang="es-MX" b="1" dirty="0"/>
              <a:t>N</a:t>
            </a:r>
            <a:r>
              <a:rPr lang="es-MX" dirty="0"/>
              <a:t> el exponente.</a:t>
            </a:r>
          </a:p>
          <a:p>
            <a:pPr algn="just"/>
            <a:endParaRPr lang="es-MX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3C8DB5AB-3967-4C96-9285-4CCCE9DE6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5035"/>
              </p:ext>
            </p:extLst>
          </p:nvPr>
        </p:nvGraphicFramePr>
        <p:xfrm>
          <a:off x="539552" y="3140968"/>
          <a:ext cx="489654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334">
                  <a:extLst>
                    <a:ext uri="{9D8B030D-6E8A-4147-A177-3AD203B41FA5}">
                      <a16:colId xmlns:a16="http://schemas.microsoft.com/office/drawing/2014/main" val="3456984279"/>
                    </a:ext>
                  </a:extLst>
                </a:gridCol>
                <a:gridCol w="1244319">
                  <a:extLst>
                    <a:ext uri="{9D8B030D-6E8A-4147-A177-3AD203B41FA5}">
                      <a16:colId xmlns:a16="http://schemas.microsoft.com/office/drawing/2014/main" val="1980620659"/>
                    </a:ext>
                  </a:extLst>
                </a:gridCol>
                <a:gridCol w="1208602">
                  <a:extLst>
                    <a:ext uri="{9D8B030D-6E8A-4147-A177-3AD203B41FA5}">
                      <a16:colId xmlns:a16="http://schemas.microsoft.com/office/drawing/2014/main" val="1142078830"/>
                    </a:ext>
                  </a:extLst>
                </a:gridCol>
                <a:gridCol w="1586291">
                  <a:extLst>
                    <a:ext uri="{9D8B030D-6E8A-4147-A177-3AD203B41FA5}">
                      <a16:colId xmlns:a16="http://schemas.microsoft.com/office/drawing/2014/main" val="3562095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Base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Exponente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882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530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1*2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134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1*2*2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40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1*2*2*2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622213"/>
                  </a:ext>
                </a:extLst>
              </a:tr>
            </a:tbl>
          </a:graphicData>
        </a:graphic>
      </p:graphicFrame>
      <p:pic>
        <p:nvPicPr>
          <p:cNvPr id="3074" name="Picture 2" descr="muñecas tipicas rusas - Tienda Online de Zapatos, Ropa y Complementos de  marca">
            <a:extLst>
              <a:ext uri="{FF2B5EF4-FFF2-40B4-BE49-F238E27FC236}">
                <a16:creationId xmlns:a16="http://schemas.microsoft.com/office/drawing/2014/main" id="{A9452F22-B690-4032-8CD2-A2924ACD2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947" y="3196499"/>
            <a:ext cx="2797837" cy="208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4E24582-BE3E-4C66-B809-AF63F3B6CE5F}"/>
              </a:ext>
            </a:extLst>
          </p:cNvPr>
          <p:cNvSpPr txBox="1"/>
          <p:nvPr/>
        </p:nvSpPr>
        <p:spPr>
          <a:xfrm>
            <a:off x="5148064" y="6479758"/>
            <a:ext cx="361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100" dirty="0">
                <a:solidFill>
                  <a:schemeClr val="accent4"/>
                </a:solidFill>
                <a:latin typeface="+mn-lt"/>
              </a:rPr>
              <a:t>“Extracto del Material del Profesor </a:t>
            </a:r>
            <a:r>
              <a:rPr lang="es-CL" sz="1100" b="0" i="0" dirty="0">
                <a:solidFill>
                  <a:schemeClr val="accent4"/>
                </a:solidFill>
                <a:effectLst/>
                <a:latin typeface="+mn-lt"/>
              </a:rPr>
              <a:t>David Castro Salinas”</a:t>
            </a:r>
            <a:endParaRPr lang="es-CL" sz="11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008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4A334-497E-4320-8E3D-D7149626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2"/>
                </a:solidFill>
              </a:rPr>
              <a:t>EJEMPLO POTENCIA </a:t>
            </a:r>
            <a:r>
              <a:rPr lang="es-CL" b="1" dirty="0" err="1">
                <a:solidFill>
                  <a:schemeClr val="accent2"/>
                </a:solidFill>
              </a:rPr>
              <a:t>x</a:t>
            </a:r>
            <a:r>
              <a:rPr lang="es-CL" b="1" baseline="30000" dirty="0" err="1">
                <a:solidFill>
                  <a:schemeClr val="accent2"/>
                </a:solidFill>
              </a:rPr>
              <a:t>n</a:t>
            </a:r>
            <a:r>
              <a:rPr lang="es-MX" b="1" dirty="0">
                <a:solidFill>
                  <a:schemeClr val="accent2"/>
                </a:solidFill>
              </a:rPr>
              <a:t>:</a:t>
            </a:r>
            <a:endParaRPr lang="es-CL" b="1" dirty="0">
              <a:solidFill>
                <a:schemeClr val="accent2"/>
              </a:solidFill>
            </a:endParaRPr>
          </a:p>
        </p:txBody>
      </p:sp>
      <p:pic>
        <p:nvPicPr>
          <p:cNvPr id="3074" name="Picture 2" descr="muñecas tipicas rusas - Tienda Online de Zapatos, Ropa y Complementos de  marca">
            <a:extLst>
              <a:ext uri="{FF2B5EF4-FFF2-40B4-BE49-F238E27FC236}">
                <a16:creationId xmlns:a16="http://schemas.microsoft.com/office/drawing/2014/main" id="{A9452F22-B690-4032-8CD2-A2924ACD2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163" y="292894"/>
            <a:ext cx="2797837" cy="208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391272-9129-400C-9933-2DD01B0C9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377282"/>
            <a:ext cx="8568952" cy="42920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0070CEB-7A98-41F9-89C2-5BBEFB6C43DC}"/>
              </a:ext>
            </a:extLst>
          </p:cNvPr>
          <p:cNvSpPr txBox="1"/>
          <p:nvPr/>
        </p:nvSpPr>
        <p:spPr>
          <a:xfrm>
            <a:off x="5209828" y="6623774"/>
            <a:ext cx="361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100" dirty="0">
                <a:solidFill>
                  <a:schemeClr val="accent4"/>
                </a:solidFill>
                <a:latin typeface="+mn-lt"/>
              </a:rPr>
              <a:t>“Extracto del Material del Profesor </a:t>
            </a:r>
            <a:r>
              <a:rPr lang="es-CL" sz="1100" b="0" i="0" dirty="0">
                <a:solidFill>
                  <a:schemeClr val="accent4"/>
                </a:solidFill>
                <a:effectLst/>
                <a:latin typeface="+mn-lt"/>
              </a:rPr>
              <a:t>David Castro Salinas”</a:t>
            </a:r>
            <a:endParaRPr lang="es-CL" sz="11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7249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511E-7E12-4117-B13D-5FF85964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Ventajas y desventajas de la recursividad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B753F2-1EBF-436F-B6B9-133C6B813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15" y="2367293"/>
            <a:ext cx="7289800" cy="390478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4BCCB9-42AE-4AFC-8E9A-A8FF10EB218D}"/>
              </a:ext>
            </a:extLst>
          </p:cNvPr>
          <p:cNvSpPr txBox="1"/>
          <p:nvPr/>
        </p:nvSpPr>
        <p:spPr>
          <a:xfrm>
            <a:off x="5148064" y="6479758"/>
            <a:ext cx="361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100" dirty="0">
                <a:solidFill>
                  <a:schemeClr val="accent4"/>
                </a:solidFill>
                <a:latin typeface="+mn-lt"/>
              </a:rPr>
              <a:t>“Extracto del Material del Profesor </a:t>
            </a:r>
            <a:r>
              <a:rPr lang="es-CL" sz="1100" b="0" i="0" dirty="0">
                <a:solidFill>
                  <a:schemeClr val="accent4"/>
                </a:solidFill>
                <a:effectLst/>
                <a:latin typeface="+mn-lt"/>
              </a:rPr>
              <a:t>David Castro Salinas”</a:t>
            </a:r>
            <a:endParaRPr lang="es-CL" sz="11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2372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BFBA4-7F82-4252-ADFD-BDA9A170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/>
            <a:r>
              <a:rPr lang="en-US" sz="5000" b="1">
                <a:solidFill>
                  <a:schemeClr val="tx1">
                    <a:lumMod val="95000"/>
                    <a:lumOff val="5000"/>
                  </a:schemeClr>
                </a:solidFill>
              </a:rPr>
              <a:t>Errores más comunes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D70994-3DD9-41BD-A190-28EBB642AC1B}"/>
              </a:ext>
            </a:extLst>
          </p:cNvPr>
          <p:cNvSpPr txBox="1"/>
          <p:nvPr/>
        </p:nvSpPr>
        <p:spPr>
          <a:xfrm>
            <a:off x="768096" y="2286000"/>
            <a:ext cx="455011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>
                <a:latin typeface="+mn-lt"/>
              </a:rPr>
              <a:t>– Tendencia a usar estructuras iterativas en lugar de estructuras selectivas. El algoritmo no se detiene. </a:t>
            </a: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400">
              <a:latin typeface="+mn-lt"/>
            </a:endParaRP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>
                <a:latin typeface="+mn-lt"/>
              </a:rPr>
              <a:t>– Ausencia de ramas donde el algoritmo trate el caso-base (salida no recursiva). </a:t>
            </a: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400">
              <a:latin typeface="+mn-lt"/>
            </a:endParaRPr>
          </a:p>
          <a:p>
            <a:pPr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>
                <a:latin typeface="+mn-lt"/>
              </a:rPr>
              <a:t>– Solución al problema incorrecta.</a:t>
            </a:r>
          </a:p>
        </p:txBody>
      </p:sp>
      <p:pic>
        <p:nvPicPr>
          <p:cNvPr id="6" name="Picture 2" descr="muñecas tipicas rusas - Tienda Online de Zapatos, Ropa y Complementos de  marca">
            <a:extLst>
              <a:ext uri="{FF2B5EF4-FFF2-40B4-BE49-F238E27FC236}">
                <a16:creationId xmlns:a16="http://schemas.microsoft.com/office/drawing/2014/main" id="{8079DB55-593A-4F36-9B4B-93C620FF7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8" r="43780" b="-2"/>
          <a:stretch/>
        </p:blipFill>
        <p:spPr bwMode="auto">
          <a:xfrm>
            <a:off x="5664199" y="10"/>
            <a:ext cx="34798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470A241-8EB7-4AB9-86D2-703BB01FF52E}"/>
              </a:ext>
            </a:extLst>
          </p:cNvPr>
          <p:cNvSpPr txBox="1"/>
          <p:nvPr/>
        </p:nvSpPr>
        <p:spPr>
          <a:xfrm>
            <a:off x="5569868" y="6623774"/>
            <a:ext cx="361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100" dirty="0">
                <a:solidFill>
                  <a:schemeClr val="accent4"/>
                </a:solidFill>
                <a:latin typeface="+mn-lt"/>
              </a:rPr>
              <a:t>“Extracto del Material del Profesor </a:t>
            </a:r>
            <a:r>
              <a:rPr lang="es-CL" sz="1100" b="0" i="0" dirty="0">
                <a:solidFill>
                  <a:schemeClr val="accent4"/>
                </a:solidFill>
                <a:effectLst/>
                <a:latin typeface="+mn-lt"/>
              </a:rPr>
              <a:t>David Castro Salinas”</a:t>
            </a:r>
            <a:endParaRPr lang="es-CL" sz="11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492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B7C6F6-4579-4D42-9857-ED1B2EE07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60" y="4382347"/>
            <a:ext cx="4266015" cy="215391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20FCBF-917E-4DE8-9DA4-0FA583E93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608575"/>
            <a:ext cx="3931920" cy="1765715"/>
          </a:xfrm>
        </p:spPr>
        <p:txBody>
          <a:bodyPr>
            <a:normAutofit/>
          </a:bodyPr>
          <a:lstStyle/>
          <a:p>
            <a:pPr algn="r"/>
            <a:r>
              <a:rPr lang="es-CL" sz="5400" b="1" dirty="0">
                <a:solidFill>
                  <a:srgbClr val="FFFFFF"/>
                </a:solidFill>
              </a:rPr>
              <a:t>ejercicio</a:t>
            </a:r>
            <a:endParaRPr lang="es-CL" sz="3800" b="1" dirty="0">
              <a:solidFill>
                <a:srgbClr val="FFFFFF"/>
              </a:solidFill>
            </a:endParaRPr>
          </a:p>
        </p:txBody>
      </p:sp>
      <p:pic>
        <p:nvPicPr>
          <p:cNvPr id="4" name="Picture 2" descr="Cuál es la historia de la matrioska, las muñecas rusas">
            <a:extLst>
              <a:ext uri="{FF2B5EF4-FFF2-40B4-BE49-F238E27FC236}">
                <a16:creationId xmlns:a16="http://schemas.microsoft.com/office/drawing/2014/main" id="{3EA7F4F0-77BC-4D78-942D-FF2902A11A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1" r="6102" b="3"/>
          <a:stretch/>
        </p:blipFill>
        <p:spPr bwMode="auto">
          <a:xfrm>
            <a:off x="245660" y="321733"/>
            <a:ext cx="4266015" cy="389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E6D8249-E901-4E71-B15A-A7F5D7F7B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2325" y="321732"/>
            <a:ext cx="4270376" cy="6214534"/>
          </a:xfrm>
          <a:prstGeom prst="rect">
            <a:avLst/>
          </a:prstGeom>
          <a:solidFill>
            <a:srgbClr val="694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BB000-A657-4ECE-A072-D7B2BB7F5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798" y="974875"/>
            <a:ext cx="3543430" cy="4852362"/>
          </a:xfrm>
        </p:spPr>
        <p:txBody>
          <a:bodyPr anchor="ctr">
            <a:normAutofit fontScale="92500" lnSpcReduction="10000"/>
          </a:bodyPr>
          <a:lstStyle/>
          <a:p>
            <a:r>
              <a:rPr lang="es-CL" sz="2800" dirty="0">
                <a:solidFill>
                  <a:srgbClr val="FFFFFF"/>
                </a:solidFill>
              </a:rPr>
              <a:t>Tomando los ejemplos anteriores, crear un programa que presente un menú donde el usuario pueda seleccionar si desea calcular el factorial o la potencia de un número, hasta que elija la opción Salir. En los casos solicitados se debe desarrollar una función recursiva por cada uno y mostrar los  resultados en pantalla.</a:t>
            </a:r>
          </a:p>
        </p:txBody>
      </p:sp>
    </p:spTree>
    <p:extLst>
      <p:ext uri="{BB962C8B-B14F-4D97-AF65-F5344CB8AC3E}">
        <p14:creationId xmlns:p14="http://schemas.microsoft.com/office/powerpoint/2010/main" val="1964891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6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9" y="4572000"/>
            <a:ext cx="5293730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3192" y="4767072"/>
            <a:ext cx="4945641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5000" b="1">
                <a:solidFill>
                  <a:srgbClr val="FFFFFF"/>
                </a:solidFill>
              </a:rPr>
              <a:t>REPASEMOS…</a:t>
            </a:r>
          </a:p>
        </p:txBody>
      </p:sp>
      <p:pic>
        <p:nvPicPr>
          <p:cNvPr id="5" name="Imagen 4" descr="Gato cuidadoso">
            <a:extLst>
              <a:ext uri="{FF2B5EF4-FFF2-40B4-BE49-F238E27FC236}">
                <a16:creationId xmlns:a16="http://schemas.microsoft.com/office/drawing/2014/main" id="{02A70015-8064-4680-83A3-30AA4E2DD7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9" b="8662"/>
          <a:stretch/>
        </p:blipFill>
        <p:spPr>
          <a:xfrm>
            <a:off x="245660" y="321733"/>
            <a:ext cx="5293729" cy="4107392"/>
          </a:xfrm>
          <a:prstGeom prst="rect">
            <a:avLst/>
          </a:prstGeom>
        </p:spPr>
      </p:pic>
      <p:sp>
        <p:nvSpPr>
          <p:cNvPr id="22" name="Rectangle 18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1" y="321732"/>
            <a:ext cx="3251710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1F7353-EBE4-4095-94AF-FC1ED2E9F4B5}"/>
              </a:ext>
            </a:extLst>
          </p:cNvPr>
          <p:cNvSpPr txBox="1"/>
          <p:nvPr/>
        </p:nvSpPr>
        <p:spPr>
          <a:xfrm>
            <a:off x="5796136" y="917725"/>
            <a:ext cx="2954672" cy="4852362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/>
          <a:p>
            <a:pPr marL="541338" indent="-541338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  <a:latin typeface="+mn-lt"/>
              </a:rPr>
              <a:t>MATRICES</a:t>
            </a:r>
          </a:p>
          <a:p>
            <a:pPr marL="541338" indent="-541338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  <a:latin typeface="+mn-lt"/>
              </a:rPr>
              <a:t>ESTRUCTURAS</a:t>
            </a:r>
          </a:p>
          <a:p>
            <a:pPr marL="541338" indent="-541338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  <a:latin typeface="+mn-lt"/>
              </a:rPr>
              <a:t>ARCHIVOS</a:t>
            </a:r>
          </a:p>
          <a:p>
            <a:pPr marL="541338" indent="-541338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  <a:latin typeface="+mn-lt"/>
              </a:rPr>
              <a:t>RECURSIVIDAD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500" y="-2"/>
            <a:ext cx="3052451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2529" y="640080"/>
            <a:ext cx="2572391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CL" altLang="es-CL" sz="3500" b="1" dirty="0">
                <a:solidFill>
                  <a:srgbClr val="FFFFFF"/>
                </a:solidFill>
              </a:rPr>
              <a:t>MATRICES Y ESTRUCTURAS</a:t>
            </a:r>
            <a:br>
              <a:rPr lang="es-CL" altLang="es-CL" sz="3500" b="1" dirty="0">
                <a:solidFill>
                  <a:srgbClr val="FFFFFF"/>
                </a:solidFill>
              </a:rPr>
            </a:br>
            <a:br>
              <a:rPr lang="es-CL" altLang="es-CL" sz="3500" b="1" dirty="0">
                <a:solidFill>
                  <a:srgbClr val="FFFFFF"/>
                </a:solidFill>
              </a:rPr>
            </a:br>
            <a:r>
              <a:rPr lang="es-CL" altLang="es-CL" sz="3500" b="1" dirty="0">
                <a:solidFill>
                  <a:srgbClr val="FFFFFF"/>
                </a:solidFill>
              </a:rPr>
              <a:t>------------</a:t>
            </a:r>
            <a:br>
              <a:rPr lang="es-CL" altLang="es-CL" sz="3500" b="1" dirty="0">
                <a:solidFill>
                  <a:srgbClr val="FFFFFF"/>
                </a:solidFill>
              </a:rPr>
            </a:br>
            <a:br>
              <a:rPr lang="es-CL" altLang="es-CL" sz="3500" b="1" dirty="0">
                <a:solidFill>
                  <a:srgbClr val="FFFFFF"/>
                </a:solidFill>
              </a:rPr>
            </a:br>
            <a:r>
              <a:rPr lang="es-CL" altLang="es-CL" sz="3500" b="1" dirty="0">
                <a:solidFill>
                  <a:srgbClr val="FFFFFF"/>
                </a:solidFill>
              </a:rPr>
              <a:t>trabajo en parejas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C766550-CD31-476D-9528-F25FDA451304}"/>
              </a:ext>
            </a:extLst>
          </p:cNvPr>
          <p:cNvSpPr txBox="1"/>
          <p:nvPr/>
        </p:nvSpPr>
        <p:spPr>
          <a:xfrm>
            <a:off x="3148281" y="692696"/>
            <a:ext cx="5763189" cy="2535233"/>
          </a:xfrm>
          <a:prstGeom prst="rect">
            <a:avLst/>
          </a:prstGeom>
        </p:spPr>
        <p:txBody>
          <a:bodyPr vert="horz" lIns="45720" tIns="45720" rIns="45720" bIns="45720" rtlCol="0">
            <a:normAutofit fontScale="92500"/>
          </a:bodyPr>
          <a:lstStyle/>
          <a:p>
            <a:pPr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s-CL" dirty="0">
                <a:latin typeface="+mn-lt"/>
              </a:rPr>
              <a:t>En la comunidad de </a:t>
            </a:r>
            <a:r>
              <a:rPr lang="es-CL" b="1" dirty="0" err="1">
                <a:latin typeface="+mn-lt"/>
              </a:rPr>
              <a:t>Pelotillehue</a:t>
            </a:r>
            <a:r>
              <a:rPr lang="es-CL" dirty="0">
                <a:latin typeface="+mn-lt"/>
              </a:rPr>
              <a:t> se está realizando un censo de edificios y contrataron a su empresa para que desarrolle un programa bajo los siguientes requerimientos:</a:t>
            </a:r>
          </a:p>
          <a:p>
            <a:pPr marL="342900" indent="-3429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CL" dirty="0">
                <a:latin typeface="+mn-lt"/>
              </a:rPr>
              <a:t>Se tiene un edificio de </a:t>
            </a:r>
            <a:r>
              <a:rPr lang="es-CL" b="1" dirty="0">
                <a:latin typeface="+mn-lt"/>
              </a:rPr>
              <a:t>n pisos y de m departamentos </a:t>
            </a:r>
            <a:r>
              <a:rPr lang="es-CL" dirty="0">
                <a:latin typeface="+mn-lt"/>
              </a:rPr>
              <a:t>(por piso), se registra la información de los residentes del edificio. Por cada departamento se almacena: apellidos de la familia, cantidad de personas que residen, conjunto de edades de los residentes (máximo 10), número de depto., número de piso. </a:t>
            </a:r>
            <a:r>
              <a:rPr lang="es-CL" b="1" dirty="0">
                <a:latin typeface="+mn-lt"/>
              </a:rPr>
              <a:t>Ejemplo</a:t>
            </a:r>
            <a:r>
              <a:rPr lang="es-CL" dirty="0">
                <a:latin typeface="+mn-lt"/>
              </a:rPr>
              <a:t>: Información del departamento ubicado en el piso 5 y donde hay 2 departamentos.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1656A8-1E6C-49B9-9AA9-C537CC543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629" y="3291160"/>
            <a:ext cx="4392488" cy="78541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B99A45E-FD1D-4740-9576-936BA079BB5D}"/>
              </a:ext>
            </a:extLst>
          </p:cNvPr>
          <p:cNvSpPr txBox="1"/>
          <p:nvPr/>
        </p:nvSpPr>
        <p:spPr>
          <a:xfrm>
            <a:off x="3073487" y="24674"/>
            <a:ext cx="29563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dirty="0">
                <a:solidFill>
                  <a:schemeClr val="accent2">
                    <a:lumMod val="75000"/>
                  </a:schemeClr>
                </a:solidFill>
              </a:rPr>
              <a:t>EJERCICIO 1: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337BAD9-214B-4F50-BB3E-D46CF8C412F6}"/>
              </a:ext>
            </a:extLst>
          </p:cNvPr>
          <p:cNvSpPr txBox="1"/>
          <p:nvPr/>
        </p:nvSpPr>
        <p:spPr>
          <a:xfrm>
            <a:off x="3214589" y="4149080"/>
            <a:ext cx="5630569" cy="19236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 startAt="2"/>
            </a:pPr>
            <a:r>
              <a:rPr lang="es-MX" sz="1700" dirty="0">
                <a:latin typeface="+mn-lt"/>
              </a:rPr>
              <a:t>Se necesita disponer de una función para ingresar los datos del edificio.</a:t>
            </a:r>
          </a:p>
          <a:p>
            <a:pPr marL="342900" indent="-342900" algn="just">
              <a:buFont typeface="+mj-lt"/>
              <a:buAutoNum type="alphaLcParenR" startAt="2"/>
            </a:pPr>
            <a:r>
              <a:rPr lang="es-MX" sz="1700" dirty="0">
                <a:latin typeface="+mn-lt"/>
              </a:rPr>
              <a:t>Otra función, denominada </a:t>
            </a:r>
            <a:r>
              <a:rPr lang="es-MX" sz="1700" dirty="0" err="1">
                <a:latin typeface="+mn-lt"/>
              </a:rPr>
              <a:t>MasPoblado</a:t>
            </a:r>
            <a:r>
              <a:rPr lang="es-MX" sz="1700" dirty="0">
                <a:latin typeface="+mn-lt"/>
              </a:rPr>
              <a:t>(E, n, m), que retorna el número del piso del edificio E (de </a:t>
            </a:r>
            <a:r>
              <a:rPr lang="es-MX" sz="1700" dirty="0" err="1">
                <a:latin typeface="+mn-lt"/>
              </a:rPr>
              <a:t>nxm</a:t>
            </a:r>
            <a:r>
              <a:rPr lang="es-MX" sz="1700" dirty="0">
                <a:latin typeface="+mn-lt"/>
              </a:rPr>
              <a:t>) que contiene más residentes. </a:t>
            </a:r>
          </a:p>
          <a:p>
            <a:pPr marL="342900" indent="-342900" algn="just">
              <a:buFont typeface="+mj-lt"/>
              <a:buAutoNum type="alphaLcParenR" startAt="2"/>
            </a:pPr>
            <a:r>
              <a:rPr lang="es-MX" sz="1700" dirty="0">
                <a:latin typeface="+mn-lt"/>
              </a:rPr>
              <a:t>Una función </a:t>
            </a:r>
            <a:r>
              <a:rPr lang="es-MX" sz="1700" dirty="0" err="1">
                <a:latin typeface="+mn-lt"/>
              </a:rPr>
              <a:t>MayorPromedio</a:t>
            </a:r>
            <a:r>
              <a:rPr lang="es-MX" sz="1700" dirty="0">
                <a:latin typeface="+mn-lt"/>
              </a:rPr>
              <a:t>(E, n, m), que retorna el mayor promedio de edad contenido en el edificio E. </a:t>
            </a:r>
            <a:endParaRPr lang="es-CL" sz="1700" dirty="0">
              <a:latin typeface="+mn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03B8EC3-8AA4-45EF-9CFF-627C67491B70}"/>
              </a:ext>
            </a:extLst>
          </p:cNvPr>
          <p:cNvSpPr txBox="1"/>
          <p:nvPr/>
        </p:nvSpPr>
        <p:spPr>
          <a:xfrm>
            <a:off x="3148280" y="6176415"/>
            <a:ext cx="5696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dirty="0">
                <a:latin typeface="+mn-lt"/>
              </a:rPr>
              <a:t>La comunidad de </a:t>
            </a:r>
            <a:r>
              <a:rPr lang="es-CL" dirty="0" err="1">
                <a:latin typeface="+mn-lt"/>
              </a:rPr>
              <a:t>Pelotillehue</a:t>
            </a:r>
            <a:r>
              <a:rPr lang="es-CL" dirty="0">
                <a:latin typeface="+mn-lt"/>
              </a:rPr>
              <a:t>, además requiere que el programa esté documentado.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58391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9" y="4572000"/>
            <a:ext cx="5293730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C8ABDB-14B3-42DE-8D17-C305EEA2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4767072"/>
            <a:ext cx="4945641" cy="1625210"/>
          </a:xfrm>
        </p:spPr>
        <p:txBody>
          <a:bodyPr>
            <a:normAutofit/>
          </a:bodyPr>
          <a:lstStyle/>
          <a:p>
            <a:pPr algn="r"/>
            <a:r>
              <a:rPr lang="es-CL" b="1">
                <a:solidFill>
                  <a:srgbClr val="FFFFFF"/>
                </a:solidFill>
              </a:rPr>
              <a:t>Exposición del ejercicio 1</a:t>
            </a:r>
          </a:p>
        </p:txBody>
      </p:sp>
      <p:pic>
        <p:nvPicPr>
          <p:cNvPr id="7" name="Imagen 6" descr="Equipo Pie Grande productivo">
            <a:extLst>
              <a:ext uri="{FF2B5EF4-FFF2-40B4-BE49-F238E27FC236}">
                <a16:creationId xmlns:a16="http://schemas.microsoft.com/office/drawing/2014/main" id="{33EC8569-FB4A-49C8-895A-D4FE8BB07F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3" b="17047"/>
          <a:stretch/>
        </p:blipFill>
        <p:spPr>
          <a:xfrm>
            <a:off x="245660" y="321733"/>
            <a:ext cx="5293729" cy="410739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1" y="321732"/>
            <a:ext cx="3251710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C62BC7-0487-45A3-9608-7218856B0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1989" y="917725"/>
            <a:ext cx="2568554" cy="48523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2800" dirty="0">
                <a:solidFill>
                  <a:srgbClr val="FFFFFF"/>
                </a:solidFill>
              </a:rPr>
              <a:t>Se proponen voluntarios o se elije a la pareja que expondrá.</a:t>
            </a:r>
          </a:p>
        </p:txBody>
      </p:sp>
    </p:spTree>
    <p:extLst>
      <p:ext uri="{BB962C8B-B14F-4D97-AF65-F5344CB8AC3E}">
        <p14:creationId xmlns:p14="http://schemas.microsoft.com/office/powerpoint/2010/main" val="150359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500" y="-2"/>
            <a:ext cx="3052451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2529" y="640080"/>
            <a:ext cx="2572391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CL" altLang="es-CL" sz="3500" b="1" dirty="0">
                <a:solidFill>
                  <a:srgbClr val="FFFFFF"/>
                </a:solidFill>
              </a:rPr>
              <a:t>archivos</a:t>
            </a:r>
            <a:br>
              <a:rPr lang="es-CL" altLang="es-CL" sz="3500" b="1" dirty="0">
                <a:solidFill>
                  <a:srgbClr val="FFFFFF"/>
                </a:solidFill>
              </a:rPr>
            </a:br>
            <a:br>
              <a:rPr lang="es-CL" altLang="es-CL" sz="3500" b="1" dirty="0">
                <a:solidFill>
                  <a:srgbClr val="FFFFFF"/>
                </a:solidFill>
              </a:rPr>
            </a:br>
            <a:r>
              <a:rPr lang="es-CL" altLang="es-CL" sz="3500" b="1" dirty="0">
                <a:solidFill>
                  <a:srgbClr val="FFFFFF"/>
                </a:solidFill>
              </a:rPr>
              <a:t>------------</a:t>
            </a:r>
            <a:br>
              <a:rPr lang="es-CL" altLang="es-CL" sz="3500" b="1" dirty="0">
                <a:solidFill>
                  <a:srgbClr val="FFFFFF"/>
                </a:solidFill>
              </a:rPr>
            </a:br>
            <a:br>
              <a:rPr lang="es-CL" altLang="es-CL" sz="3500" b="1" dirty="0">
                <a:solidFill>
                  <a:srgbClr val="FFFFFF"/>
                </a:solidFill>
              </a:rPr>
            </a:br>
            <a:r>
              <a:rPr lang="es-CL" altLang="es-CL" sz="3500" b="1" dirty="0">
                <a:solidFill>
                  <a:srgbClr val="FFFFFF"/>
                </a:solidFill>
              </a:rPr>
              <a:t>trabajo en parejas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C766550-CD31-476D-9528-F25FDA451304}"/>
              </a:ext>
            </a:extLst>
          </p:cNvPr>
          <p:cNvSpPr txBox="1"/>
          <p:nvPr/>
        </p:nvSpPr>
        <p:spPr>
          <a:xfrm>
            <a:off x="3148281" y="893767"/>
            <a:ext cx="5763189" cy="4479449"/>
          </a:xfrm>
          <a:prstGeom prst="rect">
            <a:avLst/>
          </a:prstGeom>
        </p:spPr>
        <p:txBody>
          <a:bodyPr vert="horz" lIns="45720" tIns="45720" rIns="45720" bIns="45720" rtlCol="0">
            <a:normAutofit fontScale="92500" lnSpcReduction="10000"/>
          </a:bodyPr>
          <a:lstStyle/>
          <a:p>
            <a:pPr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s-CL" sz="2400" dirty="0">
                <a:latin typeface="+mn-lt"/>
              </a:rPr>
              <a:t>La compañía </a:t>
            </a:r>
            <a:r>
              <a:rPr lang="es-CL" sz="2400" b="1" dirty="0" err="1">
                <a:latin typeface="+mn-lt"/>
              </a:rPr>
              <a:t>TresR</a:t>
            </a:r>
            <a:r>
              <a:rPr lang="es-CL" sz="2400" dirty="0">
                <a:latin typeface="+mn-lt"/>
              </a:rPr>
              <a:t>, ha contratado a su empresa para que desarrolle un programa que le permita:</a:t>
            </a:r>
          </a:p>
          <a:p>
            <a:pPr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s-CL" sz="2400" dirty="0">
              <a:latin typeface="+mn-lt"/>
            </a:endParaRPr>
          </a:p>
          <a:p>
            <a:pPr marL="342900" indent="-3429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CL" sz="2400" dirty="0">
                <a:latin typeface="+mn-lt"/>
              </a:rPr>
              <a:t>Leer archivos CSV.</a:t>
            </a:r>
          </a:p>
          <a:p>
            <a:pPr marL="342900" indent="-3429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CL" sz="2400" dirty="0">
                <a:latin typeface="+mn-lt"/>
              </a:rPr>
              <a:t>Crear archivos CSV.</a:t>
            </a:r>
          </a:p>
          <a:p>
            <a:pPr marL="342900" indent="-3429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CL" sz="2400" dirty="0">
                <a:latin typeface="+mn-lt"/>
              </a:rPr>
              <a:t>Agregar datos a un archivo CSV.</a:t>
            </a:r>
          </a:p>
          <a:p>
            <a:pPr marL="342900" indent="-3429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CL" sz="2400" dirty="0">
                <a:latin typeface="+mn-lt"/>
              </a:rPr>
              <a:t>Este programa debe permitir al usuario elegir desde un menú, la opción a realizar hasta que el usuario elija la opción Salir.</a:t>
            </a:r>
          </a:p>
          <a:p>
            <a:pPr marL="342900" indent="-3429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endParaRPr lang="es-CL" sz="2400" dirty="0">
              <a:latin typeface="+mn-lt"/>
            </a:endParaRPr>
          </a:p>
          <a:p>
            <a:pPr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s-CL" sz="2400" dirty="0">
                <a:latin typeface="+mn-lt"/>
              </a:rPr>
              <a:t>Además su cliente ha solicitado que el programa esté documentado en cada sección, para que cualquier desarrollador lo pueda entender y mantener posteriormente.</a:t>
            </a:r>
          </a:p>
          <a:p>
            <a:pPr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s-CL" sz="24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99A45E-FD1D-4740-9576-936BA079BB5D}"/>
              </a:ext>
            </a:extLst>
          </p:cNvPr>
          <p:cNvSpPr txBox="1"/>
          <p:nvPr/>
        </p:nvSpPr>
        <p:spPr>
          <a:xfrm>
            <a:off x="3073487" y="24674"/>
            <a:ext cx="29563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dirty="0">
                <a:solidFill>
                  <a:schemeClr val="accent2">
                    <a:lumMod val="75000"/>
                  </a:schemeClr>
                </a:solidFill>
              </a:rPr>
              <a:t>EJERCICIO 2:</a:t>
            </a:r>
          </a:p>
        </p:txBody>
      </p:sp>
    </p:spTree>
    <p:extLst>
      <p:ext uri="{BB962C8B-B14F-4D97-AF65-F5344CB8AC3E}">
        <p14:creationId xmlns:p14="http://schemas.microsoft.com/office/powerpoint/2010/main" val="3772232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9" y="4572000"/>
            <a:ext cx="5293730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C8ABDB-14B3-42DE-8D17-C305EEA2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4767072"/>
            <a:ext cx="4945641" cy="1625210"/>
          </a:xfrm>
        </p:spPr>
        <p:txBody>
          <a:bodyPr>
            <a:normAutofit/>
          </a:bodyPr>
          <a:lstStyle/>
          <a:p>
            <a:pPr algn="r"/>
            <a:r>
              <a:rPr lang="es-CL" b="1" dirty="0">
                <a:solidFill>
                  <a:srgbClr val="FFFFFF"/>
                </a:solidFill>
              </a:rPr>
              <a:t>Exposición del ejercicio 2</a:t>
            </a:r>
          </a:p>
        </p:txBody>
      </p:sp>
      <p:pic>
        <p:nvPicPr>
          <p:cNvPr id="5" name="Imagen 4" descr="Gato de pata coja">
            <a:extLst>
              <a:ext uri="{FF2B5EF4-FFF2-40B4-BE49-F238E27FC236}">
                <a16:creationId xmlns:a16="http://schemas.microsoft.com/office/drawing/2014/main" id="{26773E93-CD9B-4820-9339-E8A5BE6AFE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21" b="7489"/>
          <a:stretch/>
        </p:blipFill>
        <p:spPr>
          <a:xfrm>
            <a:off x="245660" y="321733"/>
            <a:ext cx="5293729" cy="41073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1" y="321732"/>
            <a:ext cx="3251710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C62BC7-0487-45A3-9608-7218856B0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1989" y="917725"/>
            <a:ext cx="2568554" cy="485236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CL" sz="3200" dirty="0">
                <a:solidFill>
                  <a:srgbClr val="FFFFFF"/>
                </a:solidFill>
              </a:rPr>
              <a:t>Se proponen voluntarios o se elije a la pareja que expondrá.</a:t>
            </a:r>
          </a:p>
        </p:txBody>
      </p:sp>
    </p:spTree>
    <p:extLst>
      <p:ext uri="{BB962C8B-B14F-4D97-AF65-F5344CB8AC3E}">
        <p14:creationId xmlns:p14="http://schemas.microsoft.com/office/powerpoint/2010/main" val="199122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500" y="-2"/>
            <a:ext cx="3052451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5" y="640080"/>
            <a:ext cx="2697416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CL" altLang="es-CL" sz="3500" b="1" dirty="0">
                <a:solidFill>
                  <a:srgbClr val="FFFFFF"/>
                </a:solidFill>
              </a:rPr>
              <a:t>recursividad</a:t>
            </a:r>
            <a:br>
              <a:rPr lang="es-CL" altLang="es-CL" sz="3500" b="1" dirty="0">
                <a:solidFill>
                  <a:srgbClr val="FFFFFF"/>
                </a:solidFill>
              </a:rPr>
            </a:br>
            <a:br>
              <a:rPr lang="es-CL" altLang="es-CL" sz="3500" b="1" dirty="0">
                <a:solidFill>
                  <a:srgbClr val="FFFFFF"/>
                </a:solidFill>
              </a:rPr>
            </a:br>
            <a:r>
              <a:rPr lang="es-CL" altLang="es-CL" sz="3500" b="1" dirty="0">
                <a:solidFill>
                  <a:srgbClr val="FFFFFF"/>
                </a:solidFill>
              </a:rPr>
              <a:t>------------</a:t>
            </a:r>
            <a:br>
              <a:rPr lang="es-CL" altLang="es-CL" sz="3500" b="1" dirty="0">
                <a:solidFill>
                  <a:srgbClr val="FFFFFF"/>
                </a:solidFill>
              </a:rPr>
            </a:br>
            <a:br>
              <a:rPr lang="es-CL" altLang="es-CL" sz="3500" b="1" dirty="0">
                <a:solidFill>
                  <a:srgbClr val="FFFFFF"/>
                </a:solidFill>
              </a:rPr>
            </a:br>
            <a:r>
              <a:rPr lang="es-CL" altLang="es-CL" sz="3500" b="1" dirty="0">
                <a:solidFill>
                  <a:srgbClr val="FFFFFF"/>
                </a:solidFill>
              </a:rPr>
              <a:t>trabajo en parejas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C766550-CD31-476D-9528-F25FDA451304}"/>
              </a:ext>
            </a:extLst>
          </p:cNvPr>
          <p:cNvSpPr txBox="1"/>
          <p:nvPr/>
        </p:nvSpPr>
        <p:spPr>
          <a:xfrm>
            <a:off x="3148281" y="893767"/>
            <a:ext cx="5763189" cy="5559569"/>
          </a:xfrm>
          <a:prstGeom prst="rect">
            <a:avLst/>
          </a:prstGeom>
        </p:spPr>
        <p:txBody>
          <a:bodyPr vert="horz" lIns="45720" tIns="45720" rIns="45720" bIns="45720" rtlCol="0">
            <a:normAutofit lnSpcReduction="10000"/>
          </a:bodyPr>
          <a:lstStyle/>
          <a:p>
            <a:pPr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s-CL" sz="1600" dirty="0">
                <a:latin typeface="+mn-lt"/>
              </a:rPr>
              <a:t>El colegio Tres Pinos, ha contratada a su empresa para desarrollar los siguientes requerimientos que permitirán enseñar a sus </a:t>
            </a:r>
            <a:r>
              <a:rPr lang="es-CL" sz="1600" dirty="0" err="1">
                <a:latin typeface="+mn-lt"/>
              </a:rPr>
              <a:t>alumn@s</a:t>
            </a:r>
            <a:r>
              <a:rPr lang="es-CL" sz="1600" dirty="0">
                <a:latin typeface="+mn-lt"/>
              </a:rPr>
              <a:t> tópicos matemáticos. Estos requerimientos deben ser desarrollados con funciones recursivas, que deben entregar autodocumentadas.</a:t>
            </a:r>
          </a:p>
          <a:p>
            <a:pPr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s-CL" sz="1600" dirty="0">
              <a:latin typeface="+mn-lt"/>
            </a:endParaRP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CL" sz="1600" dirty="0">
                <a:latin typeface="+mn-lt"/>
              </a:rPr>
              <a:t>Se requiere un menú, que permita al alumno(a) seleccionar una de las siguientes alternativas.</a:t>
            </a: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endParaRPr lang="es-MX" sz="1600" dirty="0">
              <a:latin typeface="+mn-lt"/>
            </a:endParaRP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MX" sz="1600" dirty="0">
                <a:latin typeface="+mn-lt"/>
              </a:rPr>
              <a:t>Se requiere que calcule la suma de los n primeros números naturales. El alumno(a) ingresa el n.</a:t>
            </a: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endParaRPr lang="es-MX" sz="1600" dirty="0">
              <a:latin typeface="+mn-lt"/>
            </a:endParaRP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MX" sz="1600" dirty="0">
                <a:latin typeface="+mn-lt"/>
              </a:rPr>
              <a:t>Que imprima la lista de números naturales comprendidos entre dos valores a y d dados por el alumno(a). </a:t>
            </a: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endParaRPr lang="es-MX" sz="1600" dirty="0">
              <a:latin typeface="+mn-lt"/>
            </a:endParaRP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MX" sz="1600" dirty="0">
                <a:latin typeface="+mn-lt"/>
              </a:rPr>
              <a:t>Que devuelva la cantidad de dígitos de un número entero ingresado por el alumno(a). </a:t>
            </a: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endParaRPr lang="es-MX" sz="1600" dirty="0">
              <a:latin typeface="+mn-lt"/>
            </a:endParaRP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MX" sz="1600" dirty="0">
                <a:latin typeface="+mn-lt"/>
              </a:rPr>
              <a:t>Que calcule </a:t>
            </a:r>
            <a:r>
              <a:rPr lang="es-MX" sz="1600" dirty="0" err="1">
                <a:latin typeface="+mn-lt"/>
              </a:rPr>
              <a:t>x^y</a:t>
            </a:r>
            <a:r>
              <a:rPr lang="es-MX" sz="1600" dirty="0">
                <a:latin typeface="+mn-lt"/>
              </a:rPr>
              <a:t> mediante multiplicaciones sucesivas, siendo x e y dos números enteros. Donde x e y son ingresados por el alumno(a).</a:t>
            </a: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endParaRPr lang="es-MX" sz="1600" dirty="0">
              <a:latin typeface="+mn-lt"/>
            </a:endParaRPr>
          </a:p>
          <a:p>
            <a:pPr marL="457200" indent="-457200" algn="just" defTabSz="91440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+mj-lt"/>
              <a:buAutoNum type="alphaLcParenR"/>
            </a:pPr>
            <a:r>
              <a:rPr lang="es-MX" sz="1600" dirty="0">
                <a:latin typeface="+mn-lt"/>
              </a:rPr>
              <a:t>Que calcule x*y mediante sumas sucesivas, siendo x e y dos números enteros.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99A45E-FD1D-4740-9576-936BA079BB5D}"/>
              </a:ext>
            </a:extLst>
          </p:cNvPr>
          <p:cNvSpPr txBox="1"/>
          <p:nvPr/>
        </p:nvSpPr>
        <p:spPr>
          <a:xfrm>
            <a:off x="3073487" y="24674"/>
            <a:ext cx="29563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dirty="0">
                <a:solidFill>
                  <a:schemeClr val="accent2">
                    <a:lumMod val="75000"/>
                  </a:schemeClr>
                </a:solidFill>
              </a:rPr>
              <a:t>EJERCICIO 3:</a:t>
            </a:r>
          </a:p>
        </p:txBody>
      </p:sp>
    </p:spTree>
    <p:extLst>
      <p:ext uri="{BB962C8B-B14F-4D97-AF65-F5344CB8AC3E}">
        <p14:creationId xmlns:p14="http://schemas.microsoft.com/office/powerpoint/2010/main" val="1346017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9" y="4572000"/>
            <a:ext cx="5293730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C8ABDB-14B3-42DE-8D17-C305EEA2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4767072"/>
            <a:ext cx="4945641" cy="1625210"/>
          </a:xfrm>
        </p:spPr>
        <p:txBody>
          <a:bodyPr>
            <a:normAutofit/>
          </a:bodyPr>
          <a:lstStyle/>
          <a:p>
            <a:pPr algn="r"/>
            <a:r>
              <a:rPr lang="es-CL" b="1">
                <a:solidFill>
                  <a:srgbClr val="FFFFFF"/>
                </a:solidFill>
              </a:rPr>
              <a:t>Exposición del ejercicio 3</a:t>
            </a:r>
            <a:endParaRPr lang="es-CL" b="1" dirty="0">
              <a:solidFill>
                <a:srgbClr val="FFFFFF"/>
              </a:solidFill>
            </a:endParaRPr>
          </a:p>
        </p:txBody>
      </p:sp>
      <p:pic>
        <p:nvPicPr>
          <p:cNvPr id="6" name="Imagen 5" descr="Bee: «allá voy»">
            <a:extLst>
              <a:ext uri="{FF2B5EF4-FFF2-40B4-BE49-F238E27FC236}">
                <a16:creationId xmlns:a16="http://schemas.microsoft.com/office/drawing/2014/main" id="{142BFF86-B974-48D4-A5CB-52A7587B22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22414"/>
          <a:stretch/>
        </p:blipFill>
        <p:spPr>
          <a:xfrm>
            <a:off x="245660" y="321733"/>
            <a:ext cx="5293729" cy="410739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1" y="321732"/>
            <a:ext cx="3251710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C62BC7-0487-45A3-9608-7218856B0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1989" y="917725"/>
            <a:ext cx="2568554" cy="48523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3200" dirty="0">
                <a:solidFill>
                  <a:srgbClr val="FFFFFF"/>
                </a:solidFill>
              </a:rPr>
              <a:t>Se proponen voluntarios o se elije a la pareja que expondrá.</a:t>
            </a:r>
          </a:p>
        </p:txBody>
      </p:sp>
    </p:spTree>
    <p:extLst>
      <p:ext uri="{BB962C8B-B14F-4D97-AF65-F5344CB8AC3E}">
        <p14:creationId xmlns:p14="http://schemas.microsoft.com/office/powerpoint/2010/main" val="220821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1A9B9E1-AE3D-4F69-9670-71C92ED1B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014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404F54-DE36-42A6-9D87-02339F64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2834314" cy="1499616"/>
          </a:xfrm>
        </p:spPr>
        <p:txBody>
          <a:bodyPr>
            <a:normAutofit/>
          </a:bodyPr>
          <a:lstStyle/>
          <a:p>
            <a:r>
              <a:rPr lang="es-CL" sz="3700" b="1" dirty="0">
                <a:solidFill>
                  <a:srgbClr val="FFFFFF"/>
                </a:solidFill>
              </a:rPr>
              <a:t>Memoria estática v/s dinámica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34ED8A-BEE3-4F34-B45B-731E1E292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035F81-5C22-4F48-B1A0-BEA874656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2843784" cy="3931920"/>
          </a:xfrm>
          <a:solidFill>
            <a:schemeClr val="accent3"/>
          </a:solidFill>
        </p:spPr>
        <p:txBody>
          <a:bodyPr anchor="ctr">
            <a:normAutofit/>
          </a:bodyPr>
          <a:lstStyle/>
          <a:p>
            <a:r>
              <a:rPr lang="es-CL" sz="3200" b="1" dirty="0">
                <a:solidFill>
                  <a:srgbClr val="FFFFFF"/>
                </a:solidFill>
              </a:rPr>
              <a:t>Investigar sobre memoria estática y dinámica para próxima clase</a:t>
            </a:r>
          </a:p>
        </p:txBody>
      </p:sp>
      <p:pic>
        <p:nvPicPr>
          <p:cNvPr id="5" name="Imagen 4" descr="Gato con pregunta">
            <a:extLst>
              <a:ext uri="{FF2B5EF4-FFF2-40B4-BE49-F238E27FC236}">
                <a16:creationId xmlns:a16="http://schemas.microsoft.com/office/drawing/2014/main" id="{0B7D395E-EB88-4D4C-B0C0-77944EF8CB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9" r="14140"/>
          <a:stretch/>
        </p:blipFill>
        <p:spPr>
          <a:xfrm>
            <a:off x="4572000" y="640080"/>
            <a:ext cx="40919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5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4959350"/>
            <a:ext cx="5829300" cy="146367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b="1" dirty="0"/>
              <a:t>ESTRUCTURA DE DATOS</a:t>
            </a:r>
            <a:endParaRPr lang="es-ES" altLang="es-CL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457950" y="4959350"/>
            <a:ext cx="2400300" cy="1463675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r>
              <a:rPr lang="es-ES" altLang="es-CL" dirty="0"/>
              <a:t>Clase 3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r>
              <a:rPr lang="es-ES" altLang="es-CL" dirty="0"/>
              <a:t>Semestre 2022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endParaRPr lang="es-ES" altLang="es-CL" dirty="0"/>
          </a:p>
        </p:txBody>
      </p:sp>
    </p:spTree>
    <p:extLst>
      <p:ext uri="{BB962C8B-B14F-4D97-AF65-F5344CB8AC3E}">
        <p14:creationId xmlns:p14="http://schemas.microsoft.com/office/powerpoint/2010/main" val="3728513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11DB08-1669-426B-BBEB-FAD285EF8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E4219-121F-4CD1-AA58-24746CD2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014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60F110-B82B-48B3-AA9C-769956AD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07" y="640080"/>
            <a:ext cx="3156492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eaLnBrk="1" hangingPunct="1"/>
            <a:r>
              <a:rPr lang="es-CL" sz="38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función recursiva del factorial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F50912-06FD-4216-BAD3-21050F595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009" y="3765314"/>
            <a:ext cx="2948940" cy="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4FBC4BF3-E245-497A-A1A5-3AC4E0D8D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916" y="908722"/>
            <a:ext cx="5197567" cy="50405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11391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1753</TotalTime>
  <Words>1118</Words>
  <Application>Microsoft Office PowerPoint</Application>
  <PresentationFormat>Presentación en pantalla (4:3)</PresentationFormat>
  <Paragraphs>123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Tw Cen MT</vt:lpstr>
      <vt:lpstr>Tw Cen MT Condensed</vt:lpstr>
      <vt:lpstr>Wingdings 3</vt:lpstr>
      <vt:lpstr>Integral</vt:lpstr>
      <vt:lpstr>ESTRUCTURA DE DATOS</vt:lpstr>
      <vt:lpstr>recursividad</vt:lpstr>
      <vt:lpstr>recursividad</vt:lpstr>
      <vt:lpstr>Ejemplo factorial</vt:lpstr>
      <vt:lpstr>LA RECURSIVIDAD DEBE CUMPLIR con:</vt:lpstr>
      <vt:lpstr>Estructura del Proceso Recursivo</vt:lpstr>
      <vt:lpstr>EJEMPLO POTENCIA xn:</vt:lpstr>
      <vt:lpstr>EJEMPLO POTENCIA xn:</vt:lpstr>
      <vt:lpstr>Ventajas y desventajas de la recursividad</vt:lpstr>
      <vt:lpstr>Errores más comunes</vt:lpstr>
      <vt:lpstr>ejercicio</vt:lpstr>
      <vt:lpstr>REPASEMOS…</vt:lpstr>
      <vt:lpstr>MATRICES Y ESTRUCTURAS  ------------  trabajo en parejas</vt:lpstr>
      <vt:lpstr>Exposición del ejercicio 1</vt:lpstr>
      <vt:lpstr>archivos  ------------  trabajo en parejas</vt:lpstr>
      <vt:lpstr>Exposición del ejercicio 2</vt:lpstr>
      <vt:lpstr>recursividad  ------------  trabajo en parejas</vt:lpstr>
      <vt:lpstr>Exposición del ejercicio 3</vt:lpstr>
      <vt:lpstr>Memoria estática v/s dinámica</vt:lpstr>
      <vt:lpstr>ESTRUCTURA DE DATOS</vt:lpstr>
      <vt:lpstr>función recursiva del factorial</vt:lpstr>
    </vt:vector>
  </TitlesOfParts>
  <Company>Casa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 DE DATOS</dc:title>
  <dc:creator/>
  <cp:lastModifiedBy>Yelka Ruiz</cp:lastModifiedBy>
  <cp:revision>260</cp:revision>
  <dcterms:created xsi:type="dcterms:W3CDTF">2008-03-10T18:22:55Z</dcterms:created>
  <dcterms:modified xsi:type="dcterms:W3CDTF">2022-03-22T01:30:14Z</dcterms:modified>
</cp:coreProperties>
</file>